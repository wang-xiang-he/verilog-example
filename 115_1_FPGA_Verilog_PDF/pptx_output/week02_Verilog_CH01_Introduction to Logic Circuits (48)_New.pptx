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05" r:id="rId11"/>
    <p:sldId id="265" r:id="rId12"/>
    <p:sldId id="306" r:id="rId13"/>
    <p:sldId id="307" r:id="rId14"/>
    <p:sldId id="266" r:id="rId15"/>
    <p:sldId id="308" r:id="rId16"/>
    <p:sldId id="267" r:id="rId17"/>
    <p:sldId id="268" r:id="rId18"/>
    <p:sldId id="269" r:id="rId19"/>
    <p:sldId id="30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20E180B-C5B7-C6CA-30CF-E81659E35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129" y="156520"/>
            <a:ext cx="8928235" cy="635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797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E61B0D0-760E-0BBB-CE50-C2EC92C9F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97" y="66496"/>
            <a:ext cx="10679015" cy="65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906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12C8D7E-75A3-F757-A9ED-5C3A63A1D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83" y="409153"/>
            <a:ext cx="9202434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697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16741A5-D868-2B63-2559-848B0242B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496" y="0"/>
            <a:ext cx="8063361" cy="320335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D6A1AB9-FED8-A9F6-5119-4CDA48304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495" y="3378293"/>
            <a:ext cx="8063361" cy="334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046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D6C351A-F114-67CC-93B9-1C3A96876505}"/>
              </a:ext>
            </a:extLst>
          </p:cNvPr>
          <p:cNvSpPr txBox="1"/>
          <p:nvPr/>
        </p:nvSpPr>
        <p:spPr>
          <a:xfrm>
            <a:off x="142875" y="347096"/>
            <a:ext cx="24193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0" dirty="0"/>
              <a:t>將一個 </a:t>
            </a:r>
            <a:r>
              <a:rPr lang="en-US" altLang="zh-TW" sz="1000" dirty="0"/>
              <a:t>NMOS </a:t>
            </a:r>
            <a:r>
              <a:rPr lang="zh-TW" altLang="en-US" sz="1000" dirty="0"/>
              <a:t>和一個 </a:t>
            </a:r>
            <a:r>
              <a:rPr lang="en-US" altLang="zh-TW" sz="1000" dirty="0"/>
              <a:t>PMOS </a:t>
            </a:r>
            <a:r>
              <a:rPr lang="zh-TW" altLang="en-US" sz="1000" dirty="0"/>
              <a:t>並聯 </a:t>
            </a:r>
            <a:r>
              <a:rPr lang="en-US" altLang="zh-TW" sz="1000" dirty="0"/>
              <a:t>(Parallel) </a:t>
            </a:r>
            <a:r>
              <a:rPr lang="zh-TW" altLang="en-US" sz="1000" dirty="0"/>
              <a:t>組合在一起，這就是圖 </a:t>
            </a:r>
            <a:r>
              <a:rPr lang="en-US" altLang="zh-TW" sz="1000" dirty="0"/>
              <a:t>(a) </a:t>
            </a:r>
            <a:r>
              <a:rPr lang="zh-TW" altLang="en-US" sz="1000" dirty="0"/>
              <a:t>電路的結構。這樣的組合截長補短，使得這個開關無論要傳遞高電位 </a:t>
            </a:r>
            <a:r>
              <a:rPr lang="en-US" altLang="zh-TW" sz="1000" dirty="0"/>
              <a:t>(1) </a:t>
            </a:r>
            <a:r>
              <a:rPr lang="zh-TW" altLang="en-US" sz="1000" dirty="0"/>
              <a:t>還是低電位 </a:t>
            </a:r>
            <a:r>
              <a:rPr lang="en-US" altLang="zh-TW" sz="1000" dirty="0"/>
              <a:t>(0)</a:t>
            </a:r>
            <a:r>
              <a:rPr lang="zh-TW" altLang="en-US" sz="1000" dirty="0"/>
              <a:t>，都能毫無損耗地完美傳輸（正如投影片文字所述：「驅動輸出端至低值或高值都很好」）。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8AB6CEF6-D939-53BC-8A33-850E77AB40D5}"/>
                  </a:ext>
                </a:extLst>
              </p:cNvPr>
              <p:cNvSpPr txBox="1"/>
              <p:nvPr/>
            </p:nvSpPr>
            <p:spPr>
              <a:xfrm>
                <a:off x="8410575" y="4010025"/>
                <a:ext cx="3581400" cy="2492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TW" altLang="zh-TW" sz="1200" dirty="0">
                    <a:effectLst/>
                    <a:latin typeface="+mn-lt"/>
                  </a:rPr>
                  <a:t>您提到的「CMOS 串聯」，是</a:t>
                </a:r>
                <a:r>
                  <a:rPr lang="zh-TW" altLang="zh-TW" sz="1200" b="1" dirty="0">
                    <a:effectLst/>
                    <a:latin typeface="+mn-lt"/>
                  </a:rPr>
                  <a:t>標準 CMOS 邏輯閘 (Standard CMOS Logic)</a:t>
                </a:r>
                <a:r>
                  <a:rPr lang="zh-TW" altLang="zh-TW" sz="1200" dirty="0">
                    <a:effectLst/>
                    <a:latin typeface="+mn-lt"/>
                  </a:rPr>
                  <a:t> 的核心概念。</a:t>
                </a:r>
              </a:p>
              <a:p>
                <a:pPr>
                  <a:buNone/>
                </a:pPr>
                <a:r>
                  <a:rPr lang="zh-TW" altLang="zh-TW" sz="1200" dirty="0">
                    <a:effectLst/>
                    <a:latin typeface="+mn-lt"/>
                  </a:rPr>
                  <a:t>在設計反向器 (Inverter)、NAND 或 NOR 閘時，我們會將電路分為兩半：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1200" b="1" dirty="0">
                    <a:effectLst/>
                    <a:latin typeface="+mn-lt"/>
                  </a:rPr>
                  <a:t>上拉網路 (Pull-up Network)</a:t>
                </a:r>
                <a:r>
                  <a:rPr lang="zh-TW" altLang="zh-TW" sz="1200" dirty="0">
                    <a:effectLst/>
                    <a:latin typeface="+mn-lt"/>
                  </a:rPr>
                  <a:t>：由 PMOS 組成，負責將輸出連接到電源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2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TW" altLang="en-US" sz="1200" i="1">
                            <a:latin typeface="Cambria Math" panose="02040503050406030204" pitchFamily="18" charset="0"/>
                          </a:rPr>
                          <m:t>𝐷𝐷</m:t>
                        </m:r>
                      </m:sub>
                    </m:sSub>
                  </m:oMath>
                </a14:m>
                <a:r>
                  <a:rPr lang="zh-TW" altLang="zh-TW" sz="1200" dirty="0">
                    <a:effectLst/>
                    <a:latin typeface="+mn-lt"/>
                  </a:rPr>
                  <a:t>)。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1200" b="1" dirty="0">
                    <a:effectLst/>
                    <a:latin typeface="+mn-lt"/>
                  </a:rPr>
                  <a:t>下拉網路 (Pull-down Network)</a:t>
                </a:r>
                <a:r>
                  <a:rPr lang="zh-TW" altLang="zh-TW" sz="1200" dirty="0">
                    <a:effectLst/>
                    <a:latin typeface="+mn-lt"/>
                  </a:rPr>
                  <a:t>：由 NMOS 組成，負責將輸出連接到接地 (Gnd)。</a:t>
                </a:r>
              </a:p>
              <a:p>
                <a:pPr>
                  <a:buNone/>
                </a:pPr>
                <a:r>
                  <a:rPr lang="zh-TW" altLang="zh-TW" sz="1200" dirty="0">
                    <a:effectLst/>
                    <a:latin typeface="+mn-lt"/>
                  </a:rPr>
                  <a:t>在這種架構下，PMOS 網路和 NMOS 網路確實是</a:t>
                </a:r>
                <a:r>
                  <a:rPr lang="zh-TW" altLang="zh-TW" sz="1200" b="1" dirty="0">
                    <a:effectLst/>
                    <a:latin typeface="+mn-lt"/>
                  </a:rPr>
                  <a:t>串接在電源與接地之間</a:t>
                </a:r>
                <a:r>
                  <a:rPr lang="zh-TW" altLang="zh-TW" sz="1200" dirty="0">
                    <a:effectLst/>
                    <a:latin typeface="+mn-lt"/>
                  </a:rPr>
                  <a:t>（透過輸出端交會）。但它們的作用是「驅動」輸出端的高低電位，而不是像傳輸閘那樣，直接把「輸入端」當作開關的通道來傳遞訊號。</a:t>
                </a:r>
                <a:endParaRPr lang="zh-TW" altLang="zh-TW" sz="1200" dirty="0"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8AB6CEF6-D939-53BC-8A33-850E77AB4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575" y="4010025"/>
                <a:ext cx="3581400" cy="2492990"/>
              </a:xfrm>
              <a:prstGeom prst="rect">
                <a:avLst/>
              </a:prstGeom>
              <a:blipFill>
                <a:blip r:embed="rId3"/>
                <a:stretch>
                  <a:fillRect l="-170" t="-244" r="-4259" b="-9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27AAE43-412D-FF4D-D7E5-8B8B0A39EAC6}"/>
                  </a:ext>
                </a:extLst>
              </p:cNvPr>
              <p:cNvSpPr txBox="1"/>
              <p:nvPr/>
            </p:nvSpPr>
            <p:spPr>
              <a:xfrm>
                <a:off x="8231981" y="903980"/>
                <a:ext cx="3938588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TW" altLang="zh-TW" sz="900" b="1" dirty="0">
                    <a:effectLst/>
                    <a:latin typeface="+mn-lt"/>
                  </a:rPr>
                  <a:t>2. 拆解右側的四個圖示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900" b="1" dirty="0">
                    <a:effectLst/>
                    <a:latin typeface="+mn-lt"/>
                  </a:rPr>
                  <a:t>(a) 實體電路</a:t>
                </a:r>
                <a:r>
                  <a:rPr lang="zh-TW" altLang="zh-TW" sz="900" dirty="0">
                    <a:effectLst/>
                    <a:latin typeface="+mn-lt"/>
                  </a:rPr>
                  <a:t>：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TW" altLang="zh-TW" sz="900" dirty="0">
                    <a:effectLst/>
                    <a:latin typeface="+mn-lt"/>
                  </a:rPr>
                  <a:t>上方帶有小圓圈的是 PMOS，下方的是 NMOS。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TW" altLang="zh-TW" sz="900" dirty="0">
                    <a:effectLst/>
                    <a:latin typeface="+mn-lt"/>
                  </a:rPr>
                  <a:t>注意它們的控制訊號是</a:t>
                </a:r>
                <a:r>
                  <a:rPr lang="zh-TW" altLang="zh-TW" sz="900" b="1" dirty="0">
                    <a:effectLst/>
                    <a:latin typeface="+mn-lt"/>
                  </a:rPr>
                  <a:t>相反 (互補) 的</a:t>
                </a:r>
                <a:r>
                  <a:rPr lang="zh-TW" altLang="zh-TW" sz="900" dirty="0">
                    <a:effectLst/>
                    <a:latin typeface="+mn-lt"/>
                  </a:rPr>
                  <a:t>：NMOS 由 </a:t>
                </a:r>
                <a14:m>
                  <m:oMath xmlns:m="http://schemas.openxmlformats.org/officeDocument/2006/math">
                    <m:r>
                      <a:rPr lang="zh-TW" altLang="en-US" sz="90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TW" altLang="zh-TW" sz="900" dirty="0">
                    <a:effectLst/>
                    <a:latin typeface="+mn-lt"/>
                  </a:rPr>
                  <a:t>控制，PMOS 由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sz="9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9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lang="zh-TW" altLang="zh-TW" sz="900" dirty="0">
                    <a:effectLst/>
                    <a:latin typeface="+mn-lt"/>
                  </a:rPr>
                  <a:t>（</a:t>
                </a:r>
                <a14:m>
                  <m:oMath xmlns:m="http://schemas.openxmlformats.org/officeDocument/2006/math">
                    <m:r>
                      <a:rPr lang="zh-TW" altLang="en-US" sz="90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TW" altLang="zh-TW" sz="900" dirty="0">
                    <a:effectLst/>
                    <a:latin typeface="+mn-lt"/>
                  </a:rPr>
                  <a:t> 的反相）控制。這確保了兩個電晶體會「同時導通」或「同時關閉」。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900" b="1" dirty="0">
                    <a:effectLst/>
                    <a:latin typeface="+mn-lt"/>
                  </a:rPr>
                  <a:t>(b) 與 (c) 真值表與等效電路</a:t>
                </a:r>
                <a:r>
                  <a:rPr lang="zh-TW" altLang="zh-TW" sz="900" dirty="0">
                    <a:effectLst/>
                    <a:latin typeface="+mn-lt"/>
                  </a:rPr>
                  <a:t>：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TW" altLang="zh-TW" sz="900" b="1" dirty="0">
                    <a:effectLst/>
                    <a:latin typeface="+mn-lt"/>
                  </a:rPr>
                  <a:t>當 </a:t>
                </a:r>
                <a14:m>
                  <m:oMath xmlns:m="http://schemas.openxmlformats.org/officeDocument/2006/math">
                    <m:r>
                      <a:rPr lang="zh-TW" altLang="en-US" sz="9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TW" altLang="en-US" sz="900" i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TW" altLang="zh-TW" sz="900" b="1" dirty="0">
                    <a:effectLst/>
                    <a:latin typeface="+mn-lt"/>
                  </a:rPr>
                  <a:t>（且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sz="9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9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zh-TW" altLang="en-US" sz="900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TW" altLang="zh-TW" sz="900" b="1" dirty="0">
                    <a:effectLst/>
                    <a:latin typeface="+mn-lt"/>
                  </a:rPr>
                  <a:t>）時</a:t>
                </a:r>
                <a:r>
                  <a:rPr lang="zh-TW" altLang="zh-TW" sz="900" dirty="0">
                    <a:effectLst/>
                    <a:latin typeface="+mn-lt"/>
                  </a:rPr>
                  <a:t>：兩個電晶體同時導通。如同圖 (c) 下方的閉合開關，輸入端 </a:t>
                </a:r>
                <a14:m>
                  <m:oMath xmlns:m="http://schemas.openxmlformats.org/officeDocument/2006/math">
                    <m:r>
                      <a:rPr lang="zh-TW" altLang="en-US" sz="9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TW" altLang="zh-TW" sz="900" dirty="0">
                    <a:effectLst/>
                    <a:latin typeface="+mn-lt"/>
                  </a:rPr>
                  <a:t>的訊號會直接穿透傳到輸出端 </a:t>
                </a:r>
                <a14:m>
                  <m:oMath xmlns:m="http://schemas.openxmlformats.org/officeDocument/2006/math">
                    <m:r>
                      <a:rPr lang="zh-TW" altLang="en-US" sz="90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TW" altLang="zh-TW" sz="900" dirty="0">
                    <a:effectLst/>
                    <a:latin typeface="+mn-lt"/>
                  </a:rPr>
                  <a:t>（即 </a:t>
                </a:r>
                <a14:m>
                  <m:oMath xmlns:m="http://schemas.openxmlformats.org/officeDocument/2006/math">
                    <m:r>
                      <a:rPr lang="zh-TW" altLang="en-US" sz="9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TW" altLang="en-US" sz="9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9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TW" altLang="zh-TW" sz="900" dirty="0">
                    <a:effectLst/>
                    <a:latin typeface="+mn-lt"/>
                  </a:rPr>
                  <a:t>）。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TW" altLang="zh-TW" sz="900" b="1" dirty="0">
                    <a:effectLst/>
                    <a:latin typeface="+mn-lt"/>
                  </a:rPr>
                  <a:t>當 </a:t>
                </a:r>
                <a14:m>
                  <m:oMath xmlns:m="http://schemas.openxmlformats.org/officeDocument/2006/math">
                    <m:r>
                      <a:rPr lang="zh-TW" altLang="en-US" sz="9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TW" altLang="en-US" sz="900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TW" altLang="zh-TW" sz="900" b="1" dirty="0">
                    <a:effectLst/>
                    <a:latin typeface="+mn-lt"/>
                  </a:rPr>
                  <a:t>（且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sz="9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9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zh-TW" altLang="en-US" sz="900" i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TW" altLang="zh-TW" sz="900" b="1" dirty="0">
                    <a:effectLst/>
                    <a:latin typeface="+mn-lt"/>
                  </a:rPr>
                  <a:t>）時</a:t>
                </a:r>
                <a:r>
                  <a:rPr lang="zh-TW" altLang="zh-TW" sz="900" dirty="0">
                    <a:effectLst/>
                    <a:latin typeface="+mn-lt"/>
                  </a:rPr>
                  <a:t>：兩個電晶體同時關閉。如同圖 (c) 上方的斷開開關，輸出端 </a:t>
                </a:r>
                <a14:m>
                  <m:oMath xmlns:m="http://schemas.openxmlformats.org/officeDocument/2006/math">
                    <m:r>
                      <a:rPr lang="zh-TW" altLang="en-US" sz="90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TW" altLang="zh-TW" sz="900" dirty="0">
                    <a:effectLst/>
                    <a:latin typeface="+mn-lt"/>
                  </a:rPr>
                  <a:t>與輸入端 </a:t>
                </a:r>
                <a14:m>
                  <m:oMath xmlns:m="http://schemas.openxmlformats.org/officeDocument/2006/math">
                    <m:r>
                      <a:rPr lang="zh-TW" altLang="en-US" sz="9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TW" altLang="zh-TW" sz="900" dirty="0">
                    <a:effectLst/>
                    <a:latin typeface="+mn-lt"/>
                  </a:rPr>
                  <a:t>完全斷開。此時 </a:t>
                </a:r>
                <a14:m>
                  <m:oMath xmlns:m="http://schemas.openxmlformats.org/officeDocument/2006/math">
                    <m:r>
                      <a:rPr lang="zh-TW" altLang="en-US" sz="90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TW" altLang="zh-TW" sz="900" dirty="0">
                    <a:effectLst/>
                    <a:latin typeface="+mn-lt"/>
                  </a:rPr>
                  <a:t>處於 </a:t>
                </a:r>
                <a14:m>
                  <m:oMath xmlns:m="http://schemas.openxmlformats.org/officeDocument/2006/math">
                    <m:r>
                      <a:rPr lang="zh-TW" altLang="en-US" sz="90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TW" altLang="zh-TW" sz="900" b="1" dirty="0">
                    <a:effectLst/>
                    <a:latin typeface="+mn-lt"/>
                  </a:rPr>
                  <a:t>(高阻抗狀態 High Impedance)</a:t>
                </a:r>
                <a:r>
                  <a:rPr lang="zh-TW" altLang="zh-TW" sz="900" dirty="0">
                    <a:effectLst/>
                    <a:latin typeface="+mn-lt"/>
                  </a:rPr>
                  <a:t>，也就是如同懸空一樣，不會干擾電路上的其他訊號。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900" b="1" dirty="0">
                    <a:effectLst/>
                    <a:latin typeface="+mn-lt"/>
                  </a:rPr>
                  <a:t>(d) 圖形符號</a:t>
                </a:r>
                <a:r>
                  <a:rPr lang="zh-TW" altLang="zh-TW" sz="900" dirty="0">
                    <a:effectLst/>
                    <a:latin typeface="+mn-lt"/>
                  </a:rPr>
                  <a:t>：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TW" altLang="zh-TW" sz="900" dirty="0">
                    <a:effectLst/>
                    <a:latin typeface="+mn-lt"/>
                  </a:rPr>
                  <a:t>這是傳輸閘在電路圖中的標準符號，看起來像兩個背對背的三角形（類似領結）。上下分別標示了互補的控制訊號 </a:t>
                </a:r>
                <a14:m>
                  <m:oMath xmlns:m="http://schemas.openxmlformats.org/officeDocument/2006/math">
                    <m:r>
                      <a:rPr lang="zh-TW" altLang="en-US" sz="90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TW" altLang="zh-TW" sz="900" dirty="0">
                    <a:effectLst/>
                    <a:latin typeface="+mn-lt"/>
                  </a:rPr>
                  <a:t>與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sz="9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9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lang="zh-TW" altLang="zh-TW" sz="900" dirty="0">
                    <a:effectLst/>
                    <a:latin typeface="+mn-lt"/>
                  </a:rPr>
                  <a:t>，左右則是訊號通道 </a:t>
                </a:r>
                <a14:m>
                  <m:oMath xmlns:m="http://schemas.openxmlformats.org/officeDocument/2006/math">
                    <m:r>
                      <a:rPr lang="zh-TW" altLang="en-US" sz="9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TW" altLang="zh-TW" sz="900" dirty="0">
                    <a:effectLst/>
                    <a:latin typeface="+mn-lt"/>
                  </a:rPr>
                  <a:t>與 </a:t>
                </a:r>
                <a14:m>
                  <m:oMath xmlns:m="http://schemas.openxmlformats.org/officeDocument/2006/math">
                    <m:r>
                      <a:rPr lang="zh-TW" altLang="en-US" sz="90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TW" altLang="zh-TW" sz="900" dirty="0">
                    <a:effectLst/>
                    <a:latin typeface="+mn-lt"/>
                  </a:rPr>
                  <a:t>。</a:t>
                </a:r>
                <a:endParaRPr lang="zh-TW" altLang="zh-TW" sz="900" dirty="0"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27AAE43-412D-FF4D-D7E5-8B8B0A39E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1981" y="903980"/>
                <a:ext cx="3938588" cy="2585323"/>
              </a:xfrm>
              <a:prstGeom prst="rect">
                <a:avLst/>
              </a:prstGeom>
              <a:blipFill>
                <a:blip r:embed="rId4"/>
                <a:stretch>
                  <a:fillRect b="-2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A9DB920-4AB8-69FD-F353-36A70F3A6D3B}"/>
                  </a:ext>
                </a:extLst>
              </p:cNvPr>
              <p:cNvSpPr txBox="1"/>
              <p:nvPr/>
            </p:nvSpPr>
            <p:spPr>
              <a:xfrm>
                <a:off x="0" y="452929"/>
                <a:ext cx="2266951" cy="59521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dirty="0">
                    <a:effectLst/>
                    <a:latin typeface="+mn-lt"/>
                  </a:rPr>
                  <a:t>如果我們在設計電路時，刻意調整電晶體的長寬比 (W/L)，使得 NMOS 和 PMOS 的導電能力參數相等（即投影片寫的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zh-TW" altLang="en-US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TW" altLang="zh-TW" dirty="0">
                    <a:effectLst/>
                    <a:latin typeface="+mn-lt"/>
                  </a:rPr>
                  <a:t>）。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dirty="0">
                    <a:effectLst/>
                    <a:latin typeface="+mn-lt"/>
                  </a:rPr>
                  <a:t>那麼分母中包含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zh-TW" altLang="zh-TW" dirty="0">
                    <a:effectLst/>
                    <a:latin typeface="+mn-lt"/>
                  </a:rPr>
                  <a:t>的那一項相減就會變成 0。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b="1" dirty="0">
                    <a:effectLst/>
                    <a:latin typeface="+mn-lt"/>
                  </a:rPr>
                  <a:t>結論</a:t>
                </a:r>
                <a:r>
                  <a:rPr lang="zh-TW" altLang="zh-TW" dirty="0">
                    <a:effectLst/>
                    <a:latin typeface="+mn-lt"/>
                  </a:rPr>
                  <a:t>：這代表總等效電阻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𝑜𝑛</m:t>
                        </m:r>
                        <m:r>
                          <a:rPr lang="zh-TW" altLang="en-US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</m:oMath>
                </a14:m>
                <a:r>
                  <a:rPr lang="zh-TW" altLang="zh-TW" dirty="0">
                    <a:effectLst/>
                    <a:latin typeface="+mn-lt"/>
                  </a:rPr>
                  <a:t>會變成一個常數，</a:t>
                </a:r>
                <a:r>
                  <a:rPr lang="zh-TW" altLang="zh-TW" b="1" dirty="0">
                    <a:effectLst/>
                    <a:latin typeface="+mn-lt"/>
                  </a:rPr>
                  <a:t>完全不受輸入訊號電壓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zh-TW" altLang="zh-TW" b="1" dirty="0">
                    <a:effectLst/>
                    <a:latin typeface="+mn-lt"/>
                  </a:rPr>
                  <a:t>) 高低的影響 (independent of the input level)</a:t>
                </a:r>
                <a:r>
                  <a:rPr lang="zh-TW" altLang="zh-TW" dirty="0">
                    <a:effectLst/>
                    <a:latin typeface="+mn-lt"/>
                  </a:rPr>
                  <a:t>。</a:t>
                </a:r>
                <a:endParaRPr lang="zh-TW" altLang="zh-TW" dirty="0"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A9DB920-4AB8-69FD-F353-36A70F3A6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2929"/>
                <a:ext cx="2266951" cy="5952142"/>
              </a:xfrm>
              <a:prstGeom prst="rect">
                <a:avLst/>
              </a:prstGeom>
              <a:blipFill>
                <a:blip r:embed="rId3"/>
                <a:stretch>
                  <a:fillRect l="-1613" t="-409" r="-5914" b="-6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78010C5-6431-E7FA-8088-B627C52E4263}"/>
                  </a:ext>
                </a:extLst>
              </p:cNvPr>
              <p:cNvSpPr txBox="1"/>
              <p:nvPr/>
            </p:nvSpPr>
            <p:spPr>
              <a:xfrm>
                <a:off x="171450" y="449401"/>
                <a:ext cx="9677400" cy="2911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TW" altLang="zh-TW" b="1" dirty="0">
                    <a:effectLst/>
                    <a:latin typeface="+mn-lt"/>
                  </a:rPr>
                  <a:t>2. 圖表證明：截長補短的完美體現</a:t>
                </a:r>
              </a:p>
              <a:p>
                <a:pPr>
                  <a:buNone/>
                </a:pPr>
                <a:r>
                  <a:rPr lang="zh-TW" altLang="zh-TW" dirty="0">
                    <a:effectLst/>
                    <a:latin typeface="+mn-lt"/>
                  </a:rPr>
                  <a:t>請看右下角的電阻對應電壓圖表，這張圖非常直觀：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b="1" dirty="0">
                    <a:effectLst/>
                    <a:latin typeface="+mn-lt"/>
                  </a:rPr>
                  <a:t>右邊翹起的細線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𝑜𝑛</m:t>
                        </m:r>
                        <m:r>
                          <a:rPr lang="zh-TW" altLang="en-US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zh-TW" altLang="zh-TW" b="1" dirty="0">
                    <a:effectLst/>
                    <a:latin typeface="+mn-lt"/>
                  </a:rPr>
                  <a:t>)</a:t>
                </a:r>
                <a:r>
                  <a:rPr lang="zh-TW" altLang="zh-TW" dirty="0">
                    <a:effectLst/>
                    <a:latin typeface="+mn-lt"/>
                  </a:rPr>
                  <a:t>：這是單獨 NMOS 的電阻。當輸入電壓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zh-TW" altLang="zh-TW" dirty="0">
                    <a:effectLst/>
                    <a:latin typeface="+mn-lt"/>
                  </a:rPr>
                  <a:t>越來越高（接近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𝐷𝐷</m:t>
                        </m:r>
                      </m:sub>
                    </m:sSub>
                  </m:oMath>
                </a14:m>
                <a:r>
                  <a:rPr lang="zh-TW" altLang="zh-TW" dirty="0">
                    <a:effectLst/>
                    <a:latin typeface="+mn-lt"/>
                  </a:rPr>
                  <a:t>）時，它的電阻急遽飆高，代表它</a:t>
                </a:r>
                <a:r>
                  <a:rPr lang="zh-TW" altLang="zh-TW" b="1" dirty="0">
                    <a:effectLst/>
                    <a:latin typeface="+mn-lt"/>
                  </a:rPr>
                  <a:t>傳遞高電位非常吃力</a:t>
                </a:r>
                <a:r>
                  <a:rPr lang="zh-TW" altLang="zh-TW" dirty="0">
                    <a:effectLst/>
                    <a:latin typeface="+mn-lt"/>
                  </a:rPr>
                  <a:t>。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b="1" dirty="0">
                    <a:effectLst/>
                    <a:latin typeface="+mn-lt"/>
                  </a:rPr>
                  <a:t>左邊翹起的細線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𝑜𝑛</m:t>
                        </m:r>
                        <m:r>
                          <a:rPr lang="zh-TW" altLang="en-US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TW" altLang="zh-TW" b="1" dirty="0">
                    <a:effectLst/>
                    <a:latin typeface="+mn-lt"/>
                  </a:rPr>
                  <a:t>)</a:t>
                </a:r>
                <a:r>
                  <a:rPr lang="zh-TW" altLang="zh-TW" dirty="0">
                    <a:effectLst/>
                    <a:latin typeface="+mn-lt"/>
                  </a:rPr>
                  <a:t>：這是單獨 PMOS 的電阻。當輸入電壓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zh-TW" altLang="zh-TW" dirty="0">
                    <a:effectLst/>
                    <a:latin typeface="+mn-lt"/>
                  </a:rPr>
                  <a:t>越來越低（接近 0）時，它的電阻急遽飆高，代表它</a:t>
                </a:r>
                <a:r>
                  <a:rPr lang="zh-TW" altLang="zh-TW" b="1" dirty="0">
                    <a:effectLst/>
                    <a:latin typeface="+mn-lt"/>
                  </a:rPr>
                  <a:t>傳遞低電位非常吃力</a:t>
                </a:r>
                <a:r>
                  <a:rPr lang="zh-TW" altLang="zh-TW" dirty="0">
                    <a:effectLst/>
                    <a:latin typeface="+mn-lt"/>
                  </a:rPr>
                  <a:t>。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b="1" dirty="0">
                    <a:effectLst/>
                    <a:latin typeface="+mn-lt"/>
                  </a:rPr>
                  <a:t>中間平緩的粗黑線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𝑜𝑛</m:t>
                        </m:r>
                        <m:r>
                          <a:rPr lang="zh-TW" altLang="en-US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</m:oMath>
                </a14:m>
                <a:r>
                  <a:rPr lang="zh-TW" altLang="zh-TW" b="1" dirty="0">
                    <a:effectLst/>
                    <a:latin typeface="+mn-lt"/>
                  </a:rPr>
                  <a:t>)</a:t>
                </a:r>
                <a:r>
                  <a:rPr lang="zh-TW" altLang="zh-TW" dirty="0">
                    <a:effectLst/>
                    <a:latin typeface="+mn-lt"/>
                  </a:rPr>
                  <a:t>：這是將兩者</a:t>
                </a:r>
                <a:r>
                  <a:rPr lang="zh-TW" altLang="zh-TW" b="1" dirty="0">
                    <a:effectLst/>
                    <a:latin typeface="+mn-lt"/>
                  </a:rPr>
                  <a:t>並聯</a:t>
                </a:r>
                <a:r>
                  <a:rPr lang="zh-TW" altLang="zh-TW" dirty="0">
                    <a:effectLst/>
                    <a:latin typeface="+mn-lt"/>
                  </a:rPr>
                  <a:t>後的結果！在電路學中，並聯後的總電阻會比其中最小的電阻還要小。因此，無論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zh-TW" altLang="zh-TW" dirty="0">
                    <a:effectLst/>
                    <a:latin typeface="+mn-lt"/>
                  </a:rPr>
                  <a:t>在哪個電位，總會有其中一顆電晶體處於低電阻狀態，使得整體的等效電阻（粗黑線）能在 0 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𝐷𝐷</m:t>
                        </m:r>
                      </m:sub>
                    </m:sSub>
                  </m:oMath>
                </a14:m>
                <a:r>
                  <a:rPr lang="zh-TW" altLang="zh-TW" dirty="0">
                    <a:effectLst/>
                    <a:latin typeface="+mn-lt"/>
                  </a:rPr>
                  <a:t>的全電壓範圍內，</a:t>
                </a:r>
                <a:r>
                  <a:rPr lang="zh-TW" altLang="zh-TW" b="1" dirty="0">
                    <a:effectLst/>
                    <a:latin typeface="+mn-lt"/>
                  </a:rPr>
                  <a:t>始終維持在一個相對平緩且較低的數值</a:t>
                </a:r>
                <a:r>
                  <a:rPr lang="zh-TW" altLang="zh-TW" dirty="0">
                    <a:effectLst/>
                    <a:latin typeface="+mn-lt"/>
                  </a:rPr>
                  <a:t>。</a:t>
                </a:r>
                <a:endParaRPr lang="zh-TW" altLang="zh-TW" dirty="0"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78010C5-6431-E7FA-8088-B627C52E4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" y="449401"/>
                <a:ext cx="9677400" cy="2911503"/>
              </a:xfrm>
              <a:prstGeom prst="rect">
                <a:avLst/>
              </a:prstGeom>
              <a:blipFill>
                <a:blip r:embed="rId2"/>
                <a:stretch>
                  <a:fillRect l="-504" t="-1258" r="-2834" b="-25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3462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5432292-CD18-C50E-C5E2-173342D60B04}"/>
              </a:ext>
            </a:extLst>
          </p:cNvPr>
          <p:cNvSpPr txBox="1"/>
          <p:nvPr/>
        </p:nvSpPr>
        <p:spPr>
          <a:xfrm>
            <a:off x="0" y="405065"/>
            <a:ext cx="3371850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zh-TW" sz="1800" b="1" u="none" strike="noStrike" dirty="0">
                <a:effectLst/>
                <a:latin typeface="+mn-lt"/>
              </a:rPr>
              <a:t>真值表（輸入 A、B → 輸出）</a:t>
            </a:r>
            <a:endParaRPr lang="en-US" altLang="zh-TW" sz="1800" b="1" u="none" strike="noStrike" dirty="0">
              <a:effectLst/>
              <a:latin typeface="+mn-lt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zh-TW" dirty="0"/>
              <a:t>0 和 </a:t>
            </a:r>
            <a:r>
              <a:rPr lang="en-US" altLang="zh-TW" dirty="0"/>
              <a:t>0</a:t>
            </a:r>
            <a:r>
              <a:rPr lang="zh-TW" altLang="zh-TW" dirty="0"/>
              <a:t> → </a:t>
            </a:r>
            <a:r>
              <a:rPr lang="en-US" altLang="zh-TW" b="1" dirty="0"/>
              <a:t>0</a:t>
            </a:r>
            <a:r>
              <a:rPr lang="zh-TW" altLang="en-US" b="1" dirty="0"/>
              <a:t> </a:t>
            </a:r>
            <a:endParaRPr lang="en-US" altLang="zh-TW" sz="1800" b="1" u="none" strike="noStrike" dirty="0">
              <a:effectLst/>
              <a:latin typeface="+mn-lt"/>
            </a:endParaRP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zh-TW" sz="1800" b="0" u="none" strike="noStrike" dirty="0">
                <a:effectLst/>
                <a:latin typeface="+mn-lt"/>
              </a:rPr>
              <a:t>0 和 1 → </a:t>
            </a:r>
            <a:r>
              <a:rPr lang="zh-TW" altLang="zh-TW" sz="1800" b="1" u="none" strike="noStrike" dirty="0">
                <a:effectLst/>
                <a:latin typeface="+mn-lt"/>
              </a:rPr>
              <a:t>1</a:t>
            </a:r>
            <a:endParaRPr lang="zh-TW" altLang="zh-TW" sz="1800" b="0" u="none" strike="noStrike" dirty="0">
              <a:effectLst/>
              <a:latin typeface="+mn-lt"/>
            </a:endParaRP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zh-TW" sz="1800" b="0" u="none" strike="noStrike" dirty="0">
                <a:effectLst/>
                <a:latin typeface="+mn-lt"/>
              </a:rPr>
              <a:t>1 和 0 → </a:t>
            </a:r>
            <a:r>
              <a:rPr lang="zh-TW" altLang="zh-TW" sz="1800" b="1" u="none" strike="noStrike" dirty="0">
                <a:effectLst/>
                <a:latin typeface="+mn-lt"/>
              </a:rPr>
              <a:t>1</a:t>
            </a:r>
            <a:endParaRPr lang="zh-TW" altLang="zh-TW" sz="1800" b="0" u="none" strike="noStrike" dirty="0">
              <a:effectLst/>
              <a:latin typeface="+mn-lt"/>
            </a:endParaRP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zh-TW" sz="1800" b="0" u="none" strike="noStrike" dirty="0">
                <a:effectLst/>
                <a:latin typeface="+mn-lt"/>
              </a:rPr>
              <a:t>1 和 1 → </a:t>
            </a:r>
            <a:r>
              <a:rPr lang="zh-TW" altLang="zh-TW" sz="1800" b="1" u="none" strike="noStrike" dirty="0">
                <a:effectLst/>
                <a:latin typeface="+mn-lt"/>
              </a:rPr>
              <a:t>0</a:t>
            </a:r>
            <a:r>
              <a:rPr lang="zh-TW" altLang="zh-TW" sz="1800" b="0" u="none" strike="noStrike" dirty="0">
                <a:effectLst/>
                <a:latin typeface="+mn-lt"/>
              </a:rPr>
              <a:t> </a:t>
            </a:r>
            <a:endParaRPr lang="en-US" altLang="zh-TW" sz="1800" b="0" u="none" strike="noStrike" dirty="0">
              <a:effectLst/>
              <a:latin typeface="+mn-lt"/>
            </a:endParaRP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endParaRPr lang="zh-TW" altLang="zh-TW" sz="1200" b="0" u="none" strike="noStrike" dirty="0"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64F52F8A-9A0B-C575-B08B-223F4692F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727" y="1979620"/>
            <a:ext cx="2909010" cy="1716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812</Words>
  <Application>Microsoft Office PowerPoint</Application>
  <PresentationFormat>寬螢幕</PresentationFormat>
  <Paragraphs>28</Paragraphs>
  <Slides>54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54</vt:i4>
      </vt:variant>
    </vt:vector>
  </HeadingPairs>
  <TitlesOfParts>
    <vt:vector size="59" baseType="lpstr">
      <vt:lpstr>Google Sans Text</vt:lpstr>
      <vt:lpstr>Arial</vt:lpstr>
      <vt:lpstr>Calibri</vt:lpstr>
      <vt:lpstr>Cambria Math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14</cp:revision>
  <dcterms:created xsi:type="dcterms:W3CDTF">2013-01-27T09:14:16Z</dcterms:created>
  <dcterms:modified xsi:type="dcterms:W3CDTF">2026-09-15T15:39:42Z</dcterms:modified>
  <cp:category/>
</cp:coreProperties>
</file>